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F50-4DFC-B991-DDD7FA13587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E45-41FF-A156-5F62F11B61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E45-41FF-A156-5F62F11B61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BE45-41FF-A156-5F62F11B6142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Карточные игры</c:v>
                </c:pt>
                <c:pt idx="1">
                  <c:v>Логические игры</c:v>
                </c:pt>
                <c:pt idx="2">
                  <c:v>Дуэли</c:v>
                </c:pt>
                <c:pt idx="3">
                  <c:v>Творческие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0-4DFC-B991-DDD7FA13587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7" y="766762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0262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0262"/>
            <a:ext cx="307816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ru-RU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Чітко визначивши проблеми і потреби, що спонукали до створення проекту, необхідно сформулювати його мету та завдання. Під метою слід розуміти формулювання проблем та потреб у вигляді твердження загального типу про бажаний стан об'єкта, якого необхідно досягти як кінцевий результат реалізації проекту.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 - це: "детально відпрацьоване, узгоджене, лаконічне формулювання бачення майбутнього; коротке визначення того, який позитивний результат буде отримано від реалізації проекту; основа тих завдань, на виконання яких буде спрямована діяльність організації; позитивний кінцевий результат, який планується і буде здобутий, після вирішення поставленої проблеми". Мета будується за такою схемою: </a:t>
            </a:r>
            <a:r>
              <a:rPr lang="ru-RU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"Що зробити</a:t>
            </a: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для досягнення мети і </a:t>
            </a:r>
            <a:r>
              <a:rPr lang="ru-RU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яким чином це зробити?"</a:t>
            </a: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 проекту може бути і коротко -, і довгостроковою. Термін реалізації довгострокової мети залежатиме від виконання короткострокової.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 проекту повинна відповідати на запитання: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достатньо значуща і актуальна мета, щоб її здійснювати?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є дана мета передумовою успіху?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відповідають засоби досягнення і мета між собою?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Наскільки мета реальна та відповідає напряму діяльності і потенціалу організації?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прослідковується логічна послідовність між метою та етапами її здійснення?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відповідають очікувані результати вирішенню мети?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 матиме мета розвиток після реалізації проекту у майбутньому?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Формулювання мети повинне вміщатися в одне-два речення, які логічно пов'язані та витікають з потреб та проблем. В мету необхідно включити очікуваний результат (позитивний ефект або зміни, що мають бути наслідком вирішення існуючої проблеми); власне, саму проблему, яка потребує вирішення; цільову групу населення, якій адресовано проект; головний засіб отримання очікуваного результату.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Чіткі, конкретні заходи, що піддаються вимірюванню у процесі реалізації проекту, без виконання яких його мета не буде досягнута, називаються завданнями проекту. Завдання, як і мета, мають бути реалістичними та формулюватися гранично чітко і ясно. Вони повинні містити кількісні дані про корисність проекту, щоб після виконання кожного завдання можна було легко оцінити, що досягнуто і яка частина проекту реалізована.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Завдання - це кінцевий результат вирішення або покращення ситуації, що очікується досягнути по завершенню діяльності. Основне питання, на яке повинно відповідати завдання проекту: яка різниця між теперішнім станом справ і тим, що буде в майбутньому?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Серед критеріїв відповідності завдань меті проекту є: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Зв'язок з проблемою.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Доцільність.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Відповідність місії.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Зацікавленість клієнтів.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Виправданість завдань.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Дотримання етики.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Відповідність кінцевих результатів до заявленої цілі.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Кваліфікація персоналу.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Підтримка у суспільстві.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Завдання приносять найбільшу користь, коли вони чітко сформульовані і прямо відповідають таким вимогам: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Чіткість, конкретність, певність, дієвість.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Вимірність - підлягають оглядовому підтвердженню.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Реалістичність - можна досягти за допомогою наявних ресурсів.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Гідність - не бути надто дрібними.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Адекватність - відповідність потребам громади.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Формулювання завдання повинно починатися дієсловами, які означають завершення - здійснити, провести, впровадити, надати, підготувати, розподілити, зменшити, збільшити, організувати, виготовити, встановити тощо, уникаючи слів, які показують процес: підтримати, поліпшити, підсилити, сприяти, координувати, перебудовувати тощо.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Приклад формулювання мети та завдань.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"Метою проекту (проведення круглого столу) є визначення пріоритетних заходів щодо збільшення участі освіченої молоді у розвитку основних сфер міста шляхом стимулювання та визнання їх активності в створенні власних проектів"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Завдання: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Згуртувати органи влади, організації, науковців та діячів м. Полтави, які займаються заохоченням та підтримкою громадських ініціатив до розвитку міста.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Проінформувати про можливості і досвід впроваджених на сьогодні фінансово-економічних та організаційних механізмів залучення громадськості.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Проінформувати про створення громадської організації Центр наукових досліджень та реалізації соціальних проектів "Перспектива".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Продемонструвати підтримку Представництва Фонду ім. Гайнріха Бьолля в Україні.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Представити Проект Полтавського міського конкурсу проектів розвитку міста як форми стимулювання публічної громадської активності, самоорганізації та самореалізації.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Привернути увагу ЗМІ до майбутнього Проекту.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Залучити до майбутнього Проекту нових учасників, експертів, спонсорів.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дають найбільший бізнес ефект – Відслідковування зміни ціни товару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будуть сервісами – Оплата замовлення.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дають найбільший бізнес ефект – Відслідковування зміни ціни товару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визначити процеси, що будуть сервісами – Оплата замовлення.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5892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 визначити, які ролі будуть у користувачів. Вказати, які кейси будуть доступні для якої ролі.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основі матеріалів http://amis.fpm.kpi.ua/dbis-plsql/121-oracle-visualization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Визначити мінімум два типи діаграм, для візуалізації інформації про стан бізнесу.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Під час виступу обґрунтувати їх корисність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Створити гіперпосилання на адресу прототипу. Кнопка.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709612" y="4860925"/>
            <a:ext cx="5683250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obryadin2013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linkedin.com/in/artyom-obryadin-7b16611a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236537" y="2636837"/>
            <a:ext cx="8670925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3200"/>
              <a:buFont typeface="Calibri"/>
              <a:buNone/>
            </a:pPr>
            <a:r>
              <a:rPr lang="ru-RU" sz="32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Сайт </a:t>
            </a:r>
            <a:r>
              <a:rPr lang="ru-RU" sz="32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настольни</a:t>
            </a:r>
            <a:r>
              <a:rPr lang="ru-RU" sz="32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Ігор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2525" y="5202237"/>
            <a:ext cx="2924175" cy="16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 descr="Картинки по запросу braunschweig technische universität"/>
          <p:cNvSpPr txBox="1"/>
          <p:nvPr/>
        </p:nvSpPr>
        <p:spPr>
          <a:xfrm>
            <a:off x="144462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5" descr="http://turningpoint.in/cache/com_zoo/images/national-technical-university-of-ukraine-kyiv-polytechnic-institute1_431f2a66a0a23d514e59987ee21966e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0725" y="76200"/>
            <a:ext cx="1909763" cy="19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 descr="http://cs410721.vk.me/v410721165/2227/ffGOjAVYwuA.jpg"/>
          <p:cNvPicPr preferRelativeResize="0"/>
          <p:nvPr/>
        </p:nvPicPr>
        <p:blipFill rotWithShape="1">
          <a:blip r:embed="rId5">
            <a:alphaModFix/>
          </a:blip>
          <a:srcRect t="7346"/>
          <a:stretch/>
        </p:blipFill>
        <p:spPr>
          <a:xfrm>
            <a:off x="0" y="0"/>
            <a:ext cx="5645150" cy="20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 descr="http://buythesky.com.au/App_Themes/RFDS/img/template/background-video-poster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2060575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250825" y="4868863"/>
            <a:ext cx="68199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НТУУ «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Київський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політехнічний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інститут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імені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Ігоря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Сікорського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Кафедра </a:t>
            </a: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прикладної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математики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Обрядін Артем Вадимович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870325" y="6350000"/>
            <a:ext cx="1403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 err="1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Київ</a:t>
            </a:r>
            <a:r>
              <a:rPr lang="ru-RU" sz="1400" b="1" i="0" u="none" strike="noStrike" cap="none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20</a:t>
            </a:r>
            <a:r>
              <a:rPr lang="ru-RU" b="1" dirty="0">
                <a:solidFill>
                  <a:srgbClr val="2440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sz="1400" b="1" i="0" u="none" strike="noStrike" cap="none" dirty="0">
              <a:solidFill>
                <a:srgbClr val="24406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Arial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Актуальність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проблеми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237422" y="1243156"/>
            <a:ext cx="2838088" cy="298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Опис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як </a:t>
            </a: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було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Людина має ходити до магазину, та витрачати час.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Неможливість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хоч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якось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дізнатись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про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бажану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гру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чи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обрати без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сторонніх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сервесів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8613" y="4595667"/>
            <a:ext cx="2737437" cy="226233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3203848" y="1258887"/>
            <a:ext cx="2838088" cy="298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Список проблем</a:t>
            </a:r>
            <a:endParaRPr sz="1600" b="0" i="1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uk-UA" sz="1600" b="0" i="1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Витрата часу користувача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uk-UA" sz="1600" b="0" i="1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Мала кількість інформації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Мала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расповсюдженість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Людина не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знати коли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знижка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бажану</a:t>
            </a:r>
            <a:r>
              <a:rPr lang="ru-RU" sz="1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6248287" y="1258887"/>
            <a:ext cx="2838088" cy="298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Які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ключові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рішення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потрібні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і для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чого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сам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замовляє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товар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Формавання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заказу проходить через сайт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Відслідковування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динаміки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цін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за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допомогою</a:t>
            </a:r>
            <a:r>
              <a:rPr lang="ru-RU" sz="1600" b="0" i="1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списка </a:t>
            </a:r>
            <a:r>
              <a:rPr lang="ru-RU" sz="1600" b="0" i="1" u="none" strike="noStrike" cap="none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бажаннь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обговорювати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ігри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форумі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коментаріях</a:t>
            </a:r>
            <a:endParaRPr lang="ru-RU" sz="1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Картинки по запросу &quot;далеко идти&quot;">
            <a:extLst>
              <a:ext uri="{FF2B5EF4-FFF2-40B4-BE49-F238E27FC236}">
                <a16:creationId xmlns:a16="http://schemas.microsoft.com/office/drawing/2014/main" id="{45F13AF1-0F48-4EC1-A377-5D811076F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932" y="4595667"/>
            <a:ext cx="3399681" cy="226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75433B4-E68A-4959-B19C-BC49A601FB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64" y="3857625"/>
            <a:ext cx="283845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7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Мета та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завдання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проекту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7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155575" y="1573356"/>
            <a:ext cx="82169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Мета </a:t>
            </a:r>
            <a:r>
              <a:rPr lang="ru-RU" sz="18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полягає</a:t>
            </a:r>
            <a:r>
              <a:rPr lang="uk-UA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у реалізації веб-</a:t>
            </a:r>
            <a:r>
              <a:rPr lang="uk-UA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сервесу</a:t>
            </a:r>
            <a:r>
              <a:rPr lang="uk-UA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для економії часу людини, та створенню умов для приваблення великої кількості нових покупців в магазин настільних ігор </a:t>
            </a: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«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STRAR</a:t>
            </a:r>
            <a:r>
              <a:rPr lang="ru-RU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Бенг</a:t>
            </a: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»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155575" y="2900650"/>
            <a:ext cx="8216900" cy="330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Завдання</a:t>
            </a:r>
            <a:r>
              <a:rPr lang="ru-RU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проекту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документу, що містить сценарії кейсів з аналізом підприємства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прототипу проекту.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клієнт-серверної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базами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Заве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ршити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 за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8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Ієрархія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процесів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F8FEE9-F816-45A7-8F99-5A8F8CD51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19001"/>
            <a:ext cx="9144000" cy="34490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8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uk-UA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Бізнес</a:t>
            </a:r>
            <a:r>
              <a:rPr lang="uk-UA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-правила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1" dirty="0">
                <a:latin typeface="Calibri"/>
                <a:cs typeface="Calibri"/>
                <a:sym typeface="Calibri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75966-4369-4F45-A38B-FCFBC871DD3C}"/>
              </a:ext>
            </a:extLst>
          </p:cNvPr>
          <p:cNvSpPr txBox="1"/>
          <p:nvPr/>
        </p:nvSpPr>
        <p:spPr>
          <a:xfrm>
            <a:off x="460375" y="2090172"/>
            <a:ext cx="84386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Тільки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зареестрований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користувач може здійснювати покупку.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Якщо закінчилися ігри, потрібно замовити нову партію, розмір якої формуємо на основі діаграми продажу.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Якщо користувач бажає замовити книгу, якої немає в наявності, оповістити його по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емейлу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 появі книги в наявності 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Акційні пропозиції однакові для всіх користувачів.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Максимальна кількісті однієї настільної гри 100 екземплярів.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При покупці більше ніж на 1000грн доставка безкоштовна.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7.Кількість акційних пропозицій обмежується 10 настільними іграми, які на основі діаграми продаються менше всіх.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Під час розпродажу кількість акційних пропозицій змінюється до 30.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При купівлі більше 10-х настільних ігор користувачу надається статус «Досвідчений гравець».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Користувач з статусом «Досвідчений гравець» отримує знижку 10% на будь-яку гру назавжди.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18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9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Use</a:t>
            </a: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Case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9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748D46B-E320-4156-BFD5-2349DC10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2207006"/>
            <a:ext cx="3790950" cy="3752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2E2E15-06A8-448C-B5D5-AD6F6C18C3E3}"/>
              </a:ext>
            </a:extLst>
          </p:cNvPr>
          <p:cNvSpPr txBox="1"/>
          <p:nvPr/>
        </p:nvSpPr>
        <p:spPr>
          <a:xfrm>
            <a:off x="460375" y="1868452"/>
            <a:ext cx="3437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роботи з кошиком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0D7FE-9AAF-4D4F-B6FE-0350F4BD471F}"/>
              </a:ext>
            </a:extLst>
          </p:cNvPr>
          <p:cNvSpPr txBox="1"/>
          <p:nvPr/>
        </p:nvSpPr>
        <p:spPr>
          <a:xfrm>
            <a:off x="5495827" y="1856266"/>
            <a:ext cx="2876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пошуку товарів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140DA7-EBC7-4452-BC36-29024A4BD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677" y="2207006"/>
            <a:ext cx="402907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DashBoard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4572000" y="1485900"/>
            <a:ext cx="304958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F986B-7FED-4EA7-9857-51505BF49CE2}"/>
              </a:ext>
            </a:extLst>
          </p:cNvPr>
          <p:cNvSpPr txBox="1"/>
          <p:nvPr/>
        </p:nvSpPr>
        <p:spPr>
          <a:xfrm>
            <a:off x="659832" y="1682750"/>
            <a:ext cx="7814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Оберемо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діаграму для відображення продажу різних сегментів ігор, щоб на основі аналізу цих даних зробити висновки і скорегувати кількість оптових замов ігор на склад. Діаграма дуже добре дозволяє оцінити кількість продажів в порівнянні з іншими.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1DAB016-0CBC-4717-B664-9573D2E6C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525978"/>
              </p:ext>
            </p:extLst>
          </p:nvPr>
        </p:nvGraphicFramePr>
        <p:xfrm>
          <a:off x="1684255" y="2725738"/>
          <a:ext cx="6096000" cy="3759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1" descr="http://buythesky.com.au/App_Themes/RFDS/img/template/background-video-pos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2037"/>
            <a:ext cx="9144000" cy="1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8243887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800"/>
              <a:buFont typeface="Calibri"/>
              <a:buNone/>
            </a:pPr>
            <a:r>
              <a:rPr lang="ru-RU" sz="2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Прототип </a:t>
            </a:r>
            <a:r>
              <a:rPr lang="ru-RU" sz="2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інтерфейсу</a:t>
            </a:r>
            <a:endParaRPr sz="44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8372475" y="188912"/>
            <a:ext cx="663575" cy="36036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38100" dir="5400000">
              <a:srgbClr val="000000">
                <a:alpha val="3921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 descr="data:image/jpeg;base64,/9j/4AAQSkZJRgABAQAAAQABAAD/2wCEAAkGBhQSEBUUDxQVFRQUFBQUFBQUFBgUFBQUFBQVFBQUFBQXHSYeFxkkGRQUHy8gJCcpLCwsFR4xNTAqNSYrLCkBCQoKDgwOGg8PFykcHBwpLC8pLSk1LSkpKSkpKTUtKS0sLCk1NSwpKSkpKSkpKSkpLCk1KTUpNSwsKSk1LC8sKf/AABEIAJEBEAMBIgACEQEDEQH/xAAcAAABBAMBAAAAAAAAAAAAAAAABAUGBwIDCAH/xAA9EAABAwIBCAcGBQIHAAAAAAAAAQIDBAURExcxQVJTkZMGBxIhUXKzFCMyNXOyFSIkYbEWoSUzNEJDY3H/xAAbAQEAAgMBAQAAAAAAAAAAAAAABQYCAwQBB//EADYRAAEDAgEGDAYDAQAAAAAAAAABAgMEEQUGEhQWMVETITJBU2FikaGi0eEzcXKBscEVIjTw/9oADAMBAAIRAxEAPwC8AAoXrWlVLrLgqp+WLWu7QksOodNlWPOzbJfZf/tponm4Juda5fQHK2XdtO4qGXdtO4qT2rC9N5fc49P7PidUYnpytl3bS8VDLu2l4qNWF6by+40/s+J1SBytl3bS8VDLu2l4qNWF6by+40/s+J1SeIpyvl3bS8VDLu2l4qNWF6by+40/s+J1SBytl3bS8VDLu2l4qNWF6by+40/s+J1SeKpyvl3bS8VDLu2l4qNWF6by+40/s+J1SBytl3bS8VDLu2l4qNWF6by+40/s+J1SBytl3bS8VDLu2l4qNWF6by+40/s+J1RienK2XdtLxUMu7aXio1YXpvL7jT+z4nVIHK2XdtLxUMu7aXio1YXpvL7jT+z4nVJ5icr5d20vFQy7tpeKjVhem8vuNP7PidUgcrZd20vFQy7tpeKjVhem8vuNP7PidUgcrZZ20vFQy7tpeKjVhem8vuNP7PidUYnpytl3bS8VDLu2l4qNWF6by+40/s+J1SBytl3bS8VDLu2l4qNWF6by+40/s+J1SBzFZpne0w96/wCdFrXeNOnSGxPDdBVqZ+dnX5rbPup1wT8Mira1gKC62Pmsvli9NC/Sgutj5rL5YvTQ7cnP9a/Sv5Q013w/uRAAAvxDgAAAAAAAAAAAAAAAAGAAAGB72Tw8PAMuyHYFxcxAz7AdgXFzADPsB2BcXMAMuyHZFxcxA9wPMD0AAAD0AA9wAPAwPUQyRp5c8uKrKn6mH60XqNOnzmOyt/Uw/Wi9Rp04UvKblx/Jf0SuHrxOAoLrY+ay+WL00L9KF604HOu0qMa5fyxaGqv/ABp4HLk4tqpfpX8obK5bRce8hgDpB0cmd/sdwUVs6Jy60XgXd1TE3a5CvOqoW7XIMB7gSL+lnpqXga32ByajxKqNdimCVkS7HDDgGA7SWtU1CZ9JgbElauw2tma7YIsANzozWrTYim1FuYnqIeo02NYeKoVbGtGmaRimOnFkNDianSohofMjRtbAbG0o+wWpV1DhBYlXUcr6trec45K5recizaNTYlCpMo+jwobYU/Y5HYkxOc43YoxOcg/sC+AewKTr8Db4oeLYm+KGv+Uj3mv+VaQVaI1rSE5ksHgIp7Iqajeyva7nNzMSa7nIe6nNboiST2zDUIJqPA62To47WVKOGdWGCtF8kAnfGdDX3Otr7iZUDA2K0xwNlzaimKIZIgIhsa0Kp4qmKNNjYzayMUxU5pc+xpdJYyssP6iH6sX3tOkygLNSe/i+pH97S/ymZQvznx/Jf0S2EyZ6P+wFcdKrvHHXStfHjika9tq4O+BNJY5UXWB8xk8sf2IUbFHOSD+rlbdeZVT8Fuwugp66V0NSxHtzVWy77pxjnSyQyfC57f8A3vFUlmdhix+KEVtyd6E0sj1KLUVVTAt2Su+6nNimSGGtRVjZm/IZ5UezSYpIjtKIPdzjTvI85MHEzheP1SORHPVT5LimGtpH2avEY1Vqa5MWoRyvt2BMIVGm7x6T69hla6VqKpwUs72vzbkJqYMBC9o81ze8aZULbE66FqhfdDU1BXDGJ2IOFK0ykdZDOV1kFlJS4j7Q23HUJLfESikiwaQVZUKxFK5WVKpxIYw0TW6TY6ZE0GErzQxquU+dYtjroro1SNZG6Vd5sdUnnbcuhFHKkto5x25qJ39xRajH53Lyiy0mTss6XI3g/wADztuTSiknyEfiYvtzV+HBTlbjlQi8pSQkyTka26KRttSbmyoukVVlrwGtyK1cFLFh+UUt0RylYrMNkpl/shtnoWuTuGStt+A/RSHlZCitxPpmHYjwyIpxxTOjdYg9TTDbNGSWvgGSpYWuCS6Fjp5c5Bre01qgpkaaFQkGqSbVPGob42mpqCmFpi5Tx6iiCIdKWlE9LGP1BTYkbPLmoRFTNmoKbNQe9j87PuQuArq3x9l7PM3+ULFKZic3CPTqJjJmVZGyqu9P2BUfT/5jJ5Y/sQtwqPp/8xk8sf2IVbFfgp8/0p9Oye/1O+lfygit+lCZWQhlv1EzsuooFfsJjE+SptuWsjcnxEkuWsjcnxHmHctD4flDyxVCN141jjCN141n23BeQhUYfiESrholHau1jTKXuHYW+n2GMY40g3RjjSKZy7DObYSO2JoJK34UIzbXEmjXFqFVxJFzVKnW8oSzKKLew0TIbKCXBT4xjTXcIp04crUlS5J6NncIbhVKKqKdMDGsoe13p3lTbZH/ANj7JhUkeagwuq1xF9BWLia1tS4i6jtqppOmR8eaT00kWYLKluLcSN3GMkNZOiJgRuvmxUxpEW58wyhkiVFsaYVFa/ColhaKXLg0+uYC1yNS585ftI/cWkfqkH+4yEfqnH0el2E/R3sN0onU3yqaFJZpNs2GTBVAJGCuBTF5jJsHeiQk1sYRijcSS2S6CFq0WxXq5Fso9U6+8Z52/chYhXlMnvGeZv8AKFhlIqUVJFuWDJP4cvzT9gVF1gL/AIjJ5Y/sQt0rHpZeaWO4StmazKIkf5noqpgrEwwwI2spKiqizKeNXuTjsltn3+Z9AosUhwx7p5kVUtb+qXW6qnoNFrpXOVMEJpbadWJi/uI9D0iZh7t8SJ+yYGT7p2tMqcSozZO4rMtlhVqERiWXEEqKkcTvulh1uVaniMiJiuILPHreimLrrE3QuJNYZknVMciyJY+bV9dJWPvmqLY0wQZLtUJ3mNZ0gRdAw1dyx1n1HD8PWFqIaqWjfnZzkE9bJ3jXIpunnxEjnFmjZZCzQszUM2KLqZ42tcKYpDJ7boZSNuhJaCfAk9BUoqYEDpqrAeKO5YELVU2ehAVdKrthK5IxM5iovcaKW8IukWtqGO1lFxPAOGvZCItJEvGhnBcVbpHCG9fuNywoujAwWlKTUZLTIvEhLU+NTwcSKPf42niaZr3+40+ynqUpysyYnvyTrflJUOS1zOouCu0CdsaqveKEhRDx07W6yxUGTDmqiuQhJ6uSdbu4zOOMS19WiJghoqrsmoZKuvxPoVDhyRIiIggpnOW6mNbUDNUSG2oqcRDLIWWGOxYoIs1DXI40Kpk5xrVTtRCRahsaooicJEU3RvPHIYvQdqaUfKGqIvDKONPVEfNFnEXUQ5xPLVUo57PM3+ULKKVs1d72NP8AsZ9yF1FMxaLg3t67kxk3DwTZetU/YFBdbPzWXyxemhfpQXWx81l8sXpodeTf+tfpX8oTld8P7kSZO5NCm9twemtRMeF8VqLtQhVY1dqC5Lo7xUPxF3iIQMeDbuMOCZuFbqxfEwdOaAPUYiGSMRDNXmOJ4BlYyseopm1xrAWCoKWTCiOrG/tGSPNasRTU6NFHmK4KmsVxXdfEjiSGaTGh1O1TnfStdzErjvi+IoZ0gXxIelQZJUqaFomLzHM7D2LzEy/qJfExXpAviRD2pT32pTDQWbjX/Gs3Eokvi+IlluyrrGBakxWoNjaRqcxtbQtTmHaWvx1iSSqESzGCyHQ2FEOlsCIKHzGhzzBXmKqbkbY6EZYyVTHE8xPDOxnYzRTJrjWeop4qBUFLJDfHOIUcZI81qy5qcy5ILNU+/i+rH97ToY5ossv6iH60XqNOlymZRNzXx/Jf0S2FszUd9gKC62Pmsvli9NC/Sgutj5rL5YvTQ1ZOf61+lfyh013w/uRAAAvxDgAAAAAAAAAAAAAAAAAABiAABie4ngA8Pe0HaPAPBY97Qdo8ACx72gxPAADEAA9PQAAAAAAA9xPcTEDw8F9lX9TD9aL1GnTpzBZf9TD9aL1GnT5S8puXH8l/RK0GxwFT9Pur2sqq+SaBjFY5saIqyNav5WIi9y/uWwBX6Otko5OEjte1uP8A7qO2WJsqZrihc0lw3cfNaGaS4buPmtL6AltY6vc3uX1Of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XNJcN3HzWhmkuG7j5rS+gGsdXub3L6jQY+so629VdeyaJ7o2dlskbl963Q16Kv9kLxACNrsQlrVasiJ/Xd1m+KFsV83nAAAjzcAAAAAAAAAAAAAAAAAAAAAAAAAAAAAAAAAAAAAAAAAAAAAAAAAAAAAAAAAAB//9k=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AB6D4ED2-7112-438F-8506-7CC2CC99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1849"/>
            <a:ext cx="9144000" cy="4474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/>
        </p:nvSpPr>
        <p:spPr>
          <a:xfrm>
            <a:off x="1313109" y="2502708"/>
            <a:ext cx="7096125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15D"/>
              </a:buClr>
              <a:buSzPts val="4400"/>
              <a:buFont typeface="Calibri"/>
              <a:buNone/>
            </a:pPr>
            <a:r>
              <a:rPr lang="ru-RU" sz="44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Дякую</a:t>
            </a:r>
            <a:r>
              <a:rPr lang="ru-RU" sz="44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за </a:t>
            </a:r>
            <a:r>
              <a:rPr lang="ru-RU" sz="44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увагу</a:t>
            </a:r>
            <a:r>
              <a:rPr lang="ru-RU" sz="44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!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15D"/>
              </a:buClr>
              <a:buSzPts val="4400"/>
              <a:buFont typeface="Calibri"/>
              <a:buNone/>
            </a:pPr>
            <a:endParaRPr sz="4400" b="1" i="0" u="none" strike="noStrike" cap="none" dirty="0">
              <a:solidFill>
                <a:srgbClr val="FFA1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420255" y="4601768"/>
            <a:ext cx="8229600" cy="197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obryadin2013</a:t>
            </a:r>
            <a:r>
              <a:rPr lang="ru-RU" sz="2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@gmail.com</a:t>
            </a:r>
            <a:endParaRPr sz="24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r">
              <a:spcBef>
                <a:spcPts val="480"/>
              </a:spcBef>
              <a:buSzPts val="2400"/>
            </a:pPr>
            <a:r>
              <a:rPr lang="en-US" sz="2400" dirty="0">
                <a:hlinkClick r:id="rId4"/>
              </a:rPr>
              <a:t>https://www.linkedin.com/in/artyom-obryadin-7b16611a3/</a:t>
            </a:r>
            <a:endParaRPr lang="en-US" sz="2400" dirty="0"/>
          </a:p>
          <a:p>
            <a:pPr lvl="0" algn="r">
              <a:spcBef>
                <a:spcPts val="480"/>
              </a:spcBef>
              <a:buSzPts val="2400"/>
            </a:pPr>
            <a:r>
              <a:rPr lang="ru-RU" sz="24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+380</a:t>
            </a:r>
            <a:r>
              <a:rPr lang="en-US" sz="24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999686435</a:t>
            </a:r>
            <a:endParaRPr sz="24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1257</Words>
  <Application>Microsoft Office PowerPoint</Application>
  <PresentationFormat>Экран (4:3)</PresentationFormat>
  <Paragraphs>129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1_Тема Office</vt:lpstr>
      <vt:lpstr>Тема Office</vt:lpstr>
      <vt:lpstr>Сайт настольних Ігор</vt:lpstr>
      <vt:lpstr>Актуальність проблеми</vt:lpstr>
      <vt:lpstr>Мета та завдання проекту</vt:lpstr>
      <vt:lpstr>Ієрархія процесів</vt:lpstr>
      <vt:lpstr>Бізнес-правила</vt:lpstr>
      <vt:lpstr>Use Case</vt:lpstr>
      <vt:lpstr>DashBoard</vt:lpstr>
      <vt:lpstr>Прототип інтерфейсу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проекту</dc:title>
  <dc:creator>LostSense</dc:creator>
  <cp:lastModifiedBy>LostSense</cp:lastModifiedBy>
  <cp:revision>12</cp:revision>
  <dcterms:modified xsi:type="dcterms:W3CDTF">2020-03-01T21:04:27Z</dcterms:modified>
</cp:coreProperties>
</file>